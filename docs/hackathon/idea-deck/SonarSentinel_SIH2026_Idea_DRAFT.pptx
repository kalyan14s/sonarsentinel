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Problem Statement ID – 26057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Problem Statement Title- AI-Powered Automated Underwater Marine Debris and Anomaly Detection System using Side-Scan Sonar Imagery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Theme- Disaster Management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PS Category- Software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Team ID- &lt;Team ID&gt;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lang="en-US" sz="1700"/>
              <a:t>Team Name (Registered on portal)- &lt;Team Name&gt;</a:t>
            </a:r>
            <a:endParaRPr lang="en-IN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SonarSentinel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905000" y="1016000"/>
            <a:ext cx="7620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900" b="1" i="1" u="sng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900" i="1" u="sng" dirty="0">
              <a:solidFill>
                <a:srgbClr val="6B728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i="1" u="sng" dirty="0">
              <a:solidFill>
                <a:srgbClr val="6B728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900" i="1" u="sng" dirty="0">
              <a:solidFill>
                <a:srgbClr val="6B728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FE02F4-46A0-07B7-E365-8F286E81CD90}"/>
              </a:ext>
            </a:extLst>
          </p:cNvPr>
          <p:cNvSpPr txBox="1"/>
          <p:nvPr/>
        </p:nvSpPr>
        <p:spPr>
          <a:xfrm>
            <a:off x="508000" y="1727200"/>
            <a:ext cx="7175500" cy="45212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50" b="1">
                <a:solidFill>
                  <a:srgbClr val="1F2937"/>
                </a:solidFill>
              </a:rPr>
              <a:t>Proposed solution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50">
                <a:solidFill>
                  <a:srgbClr val="1F2937"/>
                </a:solidFill>
              </a:rPr>
              <a:t>SonarSentinel is an end-to-end AI pipeline + map dashboard that reads raw side-scan sonar logs (.xtf, GeoTIFF, image + navigation CSV), detects man-made debris and ghost nets, and reports each hazard's GPS position, size, class and a 0–100% confidence.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lang="en-IN" sz="1250" b="1">
                <a:solidFill>
                  <a:srgbClr val="1F2937"/>
                </a:solidFill>
              </a:rPr>
              <a:t>How it addresses the problem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Replaces slow manual review of sonar logs with automatic detection shown live on a map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Separates debris from rocks, sand ripples and acoustic shadows using sonar physics + AI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Handles speckle noise, varying pixel resolution, data dropouts and heave / pitch / roll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Runs offline on a laptop or on an AUV / marine-drone edge computer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lang="en-IN" sz="1250" b="1">
                <a:solidFill>
                  <a:srgbClr val="1F2937"/>
                </a:solidFill>
              </a:rPr>
              <a:t>Innovation and uniqueness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GPS computed from sonar ping headers: every detection geotagged with an uncertainty estimate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Finds ghost nets without a ghost-net dataset: synthetic nets + anomaly detection + expert review loop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Physics-aware, calibrated and explainable confidence (shadow-geometry check + score breakdown)</a:t>
            </a:r>
          </a:p>
          <a:p>
            <a:pPr marL="342900" indent="-3429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50">
                <a:solidFill>
                  <a:srgbClr val="1F2937"/>
                </a:solidFill>
              </a:rPr>
              <a:t>Edge-ready (INT8 TensorRT / OpenVINO) with open outputs: JSON, CSV, GeoJSON, KML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3194AC-B998-CAC3-5C5C-DC1F9D380343}"/>
              </a:ext>
            </a:extLst>
          </p:cNvPr>
          <p:cNvSpPr/>
          <p:nvPr/>
        </p:nvSpPr>
        <p:spPr>
          <a:xfrm>
            <a:off x="7848600" y="1676400"/>
            <a:ext cx="3810000" cy="3175000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21146-9037-1510-82D2-E4C913651BC8}"/>
              </a:ext>
            </a:extLst>
          </p:cNvPr>
          <p:cNvSpPr txBox="1"/>
          <p:nvPr/>
        </p:nvSpPr>
        <p:spPr>
          <a:xfrm>
            <a:off x="7975600" y="1778000"/>
            <a:ext cx="3556000" cy="29972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2937"/>
                </a:solidFill>
              </a:rPr>
              <a:t>Example output (illustrative)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Class: ghost net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Confidence: 87.4%  ·  HAZARD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Position: 13.084120 N, 80.312750 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Size: 6.2 m × 3.1 m  ·  Depth: 18.5 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Position uncertainty: ± 4.2 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Source: line_07.xtf, starboard side, pings 10,398–10,466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>
                <a:solidFill>
                  <a:srgbClr val="1F2937"/>
                </a:solidFill>
              </a:rPr>
              <a:t>Delivered as JSON / CSV / KML for dive and ROV teams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FC6D52-46CE-5AE6-52B9-7AF5C420C055}"/>
              </a:ext>
            </a:extLst>
          </p:cNvPr>
          <p:cNvSpPr/>
          <p:nvPr/>
        </p:nvSpPr>
        <p:spPr>
          <a:xfrm>
            <a:off x="7848600" y="4978400"/>
            <a:ext cx="3810000" cy="1168400"/>
          </a:xfrm>
          <a:prstGeom prst="roundRect">
            <a:avLst/>
          </a:prstGeom>
          <a:solidFill>
            <a:srgbClr val="0B1D2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200" b="1">
                <a:solidFill>
                  <a:srgbClr val="FFFFFF"/>
                </a:solidFill>
              </a:rPr>
              <a:t>Workflow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200">
                <a:solidFill>
                  <a:srgbClr val="FFFFFF"/>
                </a:solidFill>
              </a:rPr>
              <a:t>Upload sonar log → Detect → Score → Geotag → Live map +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00" y="1016000"/>
            <a:ext cx="7620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noAutofit/>
          </a:bodyPr>
          <a:lstStyle/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1B2CDD-D700-CDE5-9744-C53FB71C1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67059"/>
              </p:ext>
            </p:extLst>
          </p:nvPr>
        </p:nvGraphicFramePr>
        <p:xfrm>
          <a:off x="508000" y="1574800"/>
          <a:ext cx="11176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548154976"/>
                    </a:ext>
                  </a:extLst>
                </a:gridCol>
                <a:gridCol w="9017000">
                  <a:extLst>
                    <a:ext uri="{9D8B030D-6E8A-4147-A177-3AD203B41FA5}">
                      <a16:colId xmlns:a16="http://schemas.microsoft.com/office/drawing/2014/main" val="336626519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Layer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 b="1"/>
                        <a:t>Technologies to be used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01722443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Sonar I/O &amp; geo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Python 3.11 · pyxtf (XTF ping headers) · GDAL / rasterio · pyproj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73964174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Signal processing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OpenCV · NumPy / SciPy: Lee despeckle, slant-range correction, gain normalisation, dropout &amp; motion masks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406391242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AI models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YOLO11-seg + SAHI (detection &amp; masks) · PatchCore / anomalib (unknown objects) · LightGBM false-positive filter · isotonic calibration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216400327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Application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FastAPI (REST + WebSocket live streaming) · React + Leaflet (offline maps) · SQLite → PostGIS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111983595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Edge &amp; deployment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/>
                        <a:t>ONNX · TensorRT (NVIDIA Jetson) · OpenVINO INT8 · Docker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8920521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33C43E-9AEA-84F5-730F-65329F74059D}"/>
              </a:ext>
            </a:extLst>
          </p:cNvPr>
          <p:cNvSpPr txBox="1"/>
          <p:nvPr/>
        </p:nvSpPr>
        <p:spPr>
          <a:xfrm>
            <a:off x="508000" y="3784600"/>
            <a:ext cx="11176000" cy="2540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50" b="1">
                <a:solidFill>
                  <a:srgbClr val="1F2937"/>
                </a:solidFill>
              </a:rPr>
              <a:t>Methodology and process for implementation</a:t>
            </a:r>
            <a:endParaRPr lang="en-IN" sz="1250" b="1">
              <a:solidFill>
                <a:srgbClr val="1F2937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A0F8F4-82F5-C1DE-14BC-95E0B51EF337}"/>
              </a:ext>
            </a:extLst>
          </p:cNvPr>
          <p:cNvSpPr/>
          <p:nvPr/>
        </p:nvSpPr>
        <p:spPr>
          <a:xfrm>
            <a:off x="558800" y="4089400"/>
            <a:ext cx="1625600" cy="1295400"/>
          </a:xfrm>
          <a:prstGeom prst="roundRect">
            <a:avLst/>
          </a:prstGeom>
          <a:solidFill>
            <a:srgbClr val="0B1D2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</a:rPr>
              <a:t>1 · Upload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</a:rPr>
              <a:t>raw .xtf / GeoTIFF / image + nav CSV</a:t>
            </a:r>
            <a:endParaRPr lang="en-IN" sz="1000">
              <a:solidFill>
                <a:srgbClr val="FFFFFF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2AA71BB-B744-74D0-2C45-A7D668BA1D24}"/>
              </a:ext>
            </a:extLst>
          </p:cNvPr>
          <p:cNvSpPr/>
          <p:nvPr/>
        </p:nvSpPr>
        <p:spPr>
          <a:xfrm>
            <a:off x="2209800" y="4622800"/>
            <a:ext cx="203200" cy="203200"/>
          </a:xfrm>
          <a:prstGeom prst="rightArrow">
            <a:avLst/>
          </a:prstGeom>
          <a:gradFill flip="none" rotWithShape="1">
            <a:gsLst>
              <a:gs pos="0">
                <a:srgbClr val="6B72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9B8B6D-4649-EBE2-2816-12F973138517}"/>
              </a:ext>
            </a:extLst>
          </p:cNvPr>
          <p:cNvSpPr/>
          <p:nvPr/>
        </p:nvSpPr>
        <p:spPr>
          <a:xfrm>
            <a:off x="2438400" y="4089400"/>
            <a:ext cx="1625600" cy="1295400"/>
          </a:xfrm>
          <a:prstGeom prst="roundRect">
            <a:avLst/>
          </a:prstGeom>
          <a:solidFill>
            <a:srgbClr val="0E7C8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</a:rPr>
              <a:t>2 · Parse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</a:rPr>
              <a:t>pings + GPS, heading, altitude, range</a:t>
            </a:r>
            <a:endParaRPr lang="en-IN" sz="1000">
              <a:solidFill>
                <a:srgbClr val="FFFFFF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71614E7-6F3A-D38C-8BE6-571629732056}"/>
              </a:ext>
            </a:extLst>
          </p:cNvPr>
          <p:cNvSpPr/>
          <p:nvPr/>
        </p:nvSpPr>
        <p:spPr>
          <a:xfrm>
            <a:off x="4089400" y="4622800"/>
            <a:ext cx="203200" cy="203200"/>
          </a:xfrm>
          <a:prstGeom prst="rightArrow">
            <a:avLst/>
          </a:prstGeom>
          <a:gradFill flip="none" rotWithShape="1">
            <a:gsLst>
              <a:gs pos="0">
                <a:srgbClr val="6B72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FAD804-64C5-594C-43A7-2D09F8C70BF6}"/>
              </a:ext>
            </a:extLst>
          </p:cNvPr>
          <p:cNvSpPr/>
          <p:nvPr/>
        </p:nvSpPr>
        <p:spPr>
          <a:xfrm>
            <a:off x="4318000" y="4089400"/>
            <a:ext cx="1625600" cy="1295400"/>
          </a:xfrm>
          <a:prstGeom prst="roundRect">
            <a:avLst/>
          </a:prstGeom>
          <a:solidFill>
            <a:srgbClr val="0B1D2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 b="1">
                <a:solidFill>
                  <a:srgbClr val="FFFFFF"/>
                </a:solidFill>
              </a:rPr>
              <a:t>3 · Preprocess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>
                <a:solidFill>
                  <a:srgbClr val="FFFFFF"/>
                </a:solidFill>
              </a:rPr>
              <a:t>despeckle · slant-range · gain · dropout &amp; motion masks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4EF77CD-B303-B9C0-A997-5F1A50868DA4}"/>
              </a:ext>
            </a:extLst>
          </p:cNvPr>
          <p:cNvSpPr/>
          <p:nvPr/>
        </p:nvSpPr>
        <p:spPr>
          <a:xfrm>
            <a:off x="5969000" y="4622800"/>
            <a:ext cx="203200" cy="203200"/>
          </a:xfrm>
          <a:prstGeom prst="rightArrow">
            <a:avLst/>
          </a:prstGeom>
          <a:gradFill flip="none" rotWithShape="1">
            <a:gsLst>
              <a:gs pos="0">
                <a:srgbClr val="6B72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A02C6A-3B4A-0D85-5A6B-51B8ABE2ECBD}"/>
              </a:ext>
            </a:extLst>
          </p:cNvPr>
          <p:cNvSpPr/>
          <p:nvPr/>
        </p:nvSpPr>
        <p:spPr>
          <a:xfrm>
            <a:off x="6197600" y="4089400"/>
            <a:ext cx="1625600" cy="1295400"/>
          </a:xfrm>
          <a:prstGeom prst="roundRect">
            <a:avLst/>
          </a:prstGeom>
          <a:solidFill>
            <a:srgbClr val="0E7C8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 b="1">
                <a:solidFill>
                  <a:srgbClr val="FFFFFF"/>
                </a:solidFill>
              </a:rPr>
              <a:t>4 · Detect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>
                <a:solidFill>
                  <a:srgbClr val="FFFFFF"/>
                </a:solidFill>
              </a:rPr>
              <a:t>YOLO11-seg + SAHI · PatchCore anomalies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9DEE70E-17AA-8B97-A66F-8A22E6334D38}"/>
              </a:ext>
            </a:extLst>
          </p:cNvPr>
          <p:cNvSpPr/>
          <p:nvPr/>
        </p:nvSpPr>
        <p:spPr>
          <a:xfrm>
            <a:off x="7848600" y="4622800"/>
            <a:ext cx="203200" cy="203200"/>
          </a:xfrm>
          <a:prstGeom prst="rightArrow">
            <a:avLst/>
          </a:prstGeom>
          <a:gradFill flip="none" rotWithShape="1">
            <a:gsLst>
              <a:gs pos="0">
                <a:srgbClr val="6B72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74301E-E7E5-EEFB-23A5-1A16906C6271}"/>
              </a:ext>
            </a:extLst>
          </p:cNvPr>
          <p:cNvSpPr/>
          <p:nvPr/>
        </p:nvSpPr>
        <p:spPr>
          <a:xfrm>
            <a:off x="8077200" y="4089400"/>
            <a:ext cx="1625600" cy="1295400"/>
          </a:xfrm>
          <a:prstGeom prst="roundRect">
            <a:avLst/>
          </a:prstGeom>
          <a:solidFill>
            <a:srgbClr val="0B1D2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FFFFFF"/>
                </a:solidFill>
              </a:rPr>
              <a:t>5 · Score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00">
                <a:solidFill>
                  <a:srgbClr val="FFFFFF"/>
                </a:solidFill>
              </a:rPr>
              <a:t>shadow physics · FP filter · calibrated 0–100%</a:t>
            </a:r>
            <a:endParaRPr lang="en-IN" sz="1000">
              <a:solidFill>
                <a:srgbClr val="FFFFFF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1AEE86-8246-3DDF-A7E1-258061CA0306}"/>
              </a:ext>
            </a:extLst>
          </p:cNvPr>
          <p:cNvSpPr/>
          <p:nvPr/>
        </p:nvSpPr>
        <p:spPr>
          <a:xfrm>
            <a:off x="9728200" y="4622800"/>
            <a:ext cx="203200" cy="203200"/>
          </a:xfrm>
          <a:prstGeom prst="rightArrow">
            <a:avLst/>
          </a:prstGeom>
          <a:gradFill flip="none" rotWithShape="1">
            <a:gsLst>
              <a:gs pos="0">
                <a:srgbClr val="6B72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720E8-0316-E69D-53CC-722134204F00}"/>
              </a:ext>
            </a:extLst>
          </p:cNvPr>
          <p:cNvSpPr/>
          <p:nvPr/>
        </p:nvSpPr>
        <p:spPr>
          <a:xfrm>
            <a:off x="9956800" y="4089400"/>
            <a:ext cx="1625600" cy="1295400"/>
          </a:xfrm>
          <a:prstGeom prst="roundRect">
            <a:avLst/>
          </a:prstGeom>
          <a:solidFill>
            <a:srgbClr val="0E7C8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 b="1">
                <a:solidFill>
                  <a:srgbClr val="FFFFFF"/>
                </a:solidFill>
              </a:rPr>
              <a:t>6 · Geotag &amp; report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IN" sz="1000">
                <a:solidFill>
                  <a:srgbClr val="FFFFFF"/>
                </a:solidFill>
              </a:rPr>
              <a:t>lat/lon, size, depth → live map + JSON/CSV/KML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C6D0D6-524B-5610-2CE8-91ABC07A1D81}"/>
              </a:ext>
            </a:extLst>
          </p:cNvPr>
          <p:cNvSpPr txBox="1"/>
          <p:nvPr/>
        </p:nvSpPr>
        <p:spPr>
          <a:xfrm>
            <a:off x="508000" y="5486400"/>
            <a:ext cx="11176000" cy="7366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US" sz="1100">
                <a:solidFill>
                  <a:srgbClr val="1F2937"/>
                </a:solidFill>
              </a:rPr>
              <a:t>Long sonar logs are processed in overlapping chunks and streamed to the map in real time (WebSocket)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US" sz="1100">
                <a:solidFill>
                  <a:srgbClr val="1F2937"/>
                </a:solidFill>
              </a:rPr>
              <a:t>Expert confirm / reject decisions become new training data; models are exported to ONNX for edge devices</a:t>
            </a:r>
            <a:endParaRPr lang="en-IN" sz="11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00" y="1016000"/>
            <a:ext cx="7620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900" b="0" i="1" u="none" strike="noStrike" kern="1200" cap="none" spc="0" normalizeH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BEE4DF-B45F-9A9B-0088-C61A8AB282CB}"/>
              </a:ext>
            </a:extLst>
          </p:cNvPr>
          <p:cNvSpPr txBox="1"/>
          <p:nvPr/>
        </p:nvSpPr>
        <p:spPr>
          <a:xfrm>
            <a:off x="508000" y="1574800"/>
            <a:ext cx="11176000" cy="13208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2937"/>
                </a:solidFill>
              </a:rPr>
              <a:t>Analysis of feasibility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Fully open-source stack (AGPL-3.0): runs on a GPU laptop, CPU-only, or a Jetson-class edge computer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Public data available now: AI4Shipwrecks (286 labelled SSS images), mine-detection SSS dataset (1,170 images, CC BY 4.0), NOAA hydrographic surveys with navigation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Six-sprint build plan with weekly milestones; requirements, architecture and test plan already defined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42D341-E627-2237-6128-929FD2959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441977"/>
              </p:ext>
            </p:extLst>
          </p:nvPr>
        </p:nvGraphicFramePr>
        <p:xfrm>
          <a:off x="508000" y="2997200"/>
          <a:ext cx="11176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362589652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1951833905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Potential challenges and risks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 b="1"/>
                        <a:t>Strategies for overcoming them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13026306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No public labelled ghost-net sonar dataset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Synthetic ghost-net generator on real seabed + anomaly detection + expert review queue that collects real labels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166658753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US" sz="1050" b="1"/>
                        <a:t>Rocks, sand ripples and shadows cause false alarms</a:t>
                      </a:r>
                      <a:endParaRPr lang="en-IN" sz="1050" b="1"/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Shadow-geometry check, shape / texture false-positive filter, hard-negative training, calibrated alert tiers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125266813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US" sz="1050" b="1"/>
                        <a:t>Different sonars, frequencies and resolutions</a:t>
                      </a:r>
                      <a:endParaRPr lang="en-IN" sz="1050" b="1"/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Resample to a fixed 10 cm / pixel, gain normalisation, sonar-specific augmentation, fine-tuning on NIOT samples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114767720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US" sz="1050" b="1"/>
                        <a:t>Position errors (towfish layback, heading, GPS gaps)</a:t>
                      </a:r>
                      <a:endParaRPr lang="en-IN" sz="1050" b="1"/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Layback correction, navigation smoothing, per-detection uncertainty, validation against charted wrecks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6805693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US" sz="1050" b="1"/>
                        <a:t>Limited compute on marine drones</a:t>
                      </a:r>
                      <a:endParaRPr lang="en-IN" sz="1050" b="1"/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Compact YOLO11 model with INT8 TensorRT / OpenVINO; heavy steps (anomaly model, mosaic) run on shore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86745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00" y="1016000"/>
            <a:ext cx="7620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DDDF7-0FDA-4B09-D607-BEAD282D7173}"/>
              </a:ext>
            </a:extLst>
          </p:cNvPr>
          <p:cNvSpPr txBox="1"/>
          <p:nvPr/>
        </p:nvSpPr>
        <p:spPr>
          <a:xfrm>
            <a:off x="508000" y="1574800"/>
            <a:ext cx="11176000" cy="12700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1F2937"/>
                </a:solidFill>
              </a:rPr>
              <a:t>Potential impact on the target audience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NIOT / MoES survey teams: automated screening of survey logs; analysts review only flagged hazards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Port, coastal and disaster authorities (Navy, Coast Guard): rapid post-cyclone / post-tsunami hazard maps</a:t>
            </a:r>
          </a:p>
          <a:p>
            <a:pPr marL="228600" indent="-228600">
              <a:spcBef>
                <a:spcPts val="0"/>
              </a:spcBef>
              <a:spcAft>
                <a:spcPts val="300"/>
              </a:spcAft>
              <a:buFont typeface="+mj-lt"/>
              <a:buChar char="•"/>
            </a:pPr>
            <a:r>
              <a:rPr lang="en-IN" sz="1200">
                <a:solidFill>
                  <a:srgbClr val="1F2937"/>
                </a:solidFill>
              </a:rPr>
              <a:t>Fisheries departments, NGOs and dive / ROV teams: exact GPS positions for ghost-net recovery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5F9975-330F-84A8-A97D-4C3B204A0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283995"/>
              </p:ext>
            </p:extLst>
          </p:nvPr>
        </p:nvGraphicFramePr>
        <p:xfrm>
          <a:off x="508000" y="2946400"/>
          <a:ext cx="111760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256715135"/>
                    </a:ext>
                  </a:extLst>
                </a:gridCol>
                <a:gridCol w="8763000">
                  <a:extLst>
                    <a:ext uri="{9D8B030D-6E8A-4147-A177-3AD203B41FA5}">
                      <a16:colId xmlns:a16="http://schemas.microsoft.com/office/drawing/2014/main" val="3447672629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Benefit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IN" sz="1050" b="1"/>
                        <a:t>Details</a:t>
                      </a:r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365434000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Environmental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Faster ghost-net discovery → less entanglement of fish, turtles and dolphins and less reef damage; supports UN SDG 14 (Life Below Water)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72726639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Disaster management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Rapid mapping of submerged debris in ports and shipping channels after cyclones, floods and tsunamis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278527285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Economic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Fewer analyst hours per survey (target ≥ 70% time saving, to be measured); less propeller and fishing-gear damage; faster channel reopening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60475585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Social &amp; operational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Same-day hazard reports with GPS for field teams; on-board alerts; offline and on-premise, so sensitive seabed data stays in-country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136806441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r>
                        <a:rPr lang="en-IN" sz="1050" b="1"/>
                        <a:t>Strategic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Indigenous, open, edge-deployable capability aligned with MoES / NIOT ocean-technology programmes</a:t>
                      </a:r>
                      <a:endParaRPr lang="en-IN" sz="1050"/>
                    </a:p>
                  </a:txBody>
                  <a:tcPr marT="38100" marB="38100"/>
                </a:tc>
                <a:extLst>
                  <a:ext uri="{0D108BD9-81ED-4DB2-BD59-A6C34878D82A}">
                    <a16:rowId xmlns:a16="http://schemas.microsoft.com/office/drawing/2014/main" val="2839265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00" y="1016000"/>
            <a:ext cx="7620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 bIns="0">
            <a:noAutofit/>
          </a:bodyPr>
          <a:lstStyle/>
          <a:p>
            <a:pPr marL="342900" marR="0" lvl="0" indent="-342900" algn="just" defTabSz="457200" rtl="0" eaLnBrk="1" fontAlgn="base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i="1" noProof="0" dirty="0">
                <a:solidFill>
                  <a:srgbClr val="6B7280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72BA9C-44DE-F8D1-4423-FD24666E1C89}"/>
              </a:ext>
            </a:extLst>
          </p:cNvPr>
          <p:cNvSpPr txBox="1"/>
          <p:nvPr/>
        </p:nvSpPr>
        <p:spPr>
          <a:xfrm>
            <a:off x="508000" y="1574799"/>
            <a:ext cx="11176000" cy="46736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[1] Z. Miao et al., "GhostNetZero: AI for detecting marine ghost nets," Microsoft AI for Good Lab, 2025.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[2] A. V. Sethuraman et al., "Machine learning for shipwreck segmentation from side scan sonar imagery: Dataset and benchmark," Int. J. Robotics Research, 44(3), 2025. doi:10.1177/02783649241266853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[3] N. Pessanha Santos et al., "Side-scan sonar imaging data of underwater vehicles for mine detection," Data in Brief, 53, 2024. doi:10.1016/j.dib.2024.110132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[4] G. Huo, Z. Wu, J. Li, "Underwater object classification in sidescan sonar images using deep transfer learning and semisynthetic training data," IEEE Access, 8, 2020.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[5] K. Roth et al., "Towards total recall in industrial anomaly detection" (PatchCore), CVPR 2022.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[6] F. C. Akyon, S. O. Altinuc, A. Temizel, "Slicing aided hyper inference and fine-tuning for small object detection," ICIP 2022.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[7] C. Guo et al., "On calibration of modern neural networks," ICML 2017.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[8] K. Richardson, B. D. Hardesty, C. Wilcox, "Estimates of fishing gear loss rates at a global scale," Fish and Fisheries, 20(6), 2019. doi:10.1111/faf.12407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[9] P. Blondel, The Handbook of Sidescan Sonar, Springer/Praxis, 2009.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00">
                <a:solidFill>
                  <a:srgbClr val="1F2937"/>
                </a:solidFill>
              </a:rPr>
              <a:t>[10] Data &amp; tools: NOAA NCEI hydrographic survey data; Ultralytics YOLO11; pyxtf (github.com/oysstu/pyxtf); anomalib.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1386</Words>
  <Application>Microsoft Office PowerPoint</Application>
  <PresentationFormat>Widescreen</PresentationFormat>
  <Paragraphs>139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TITLE: SonarSentinel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srini nomula</cp:lastModifiedBy>
  <cp:revision>149</cp:revision>
  <dcterms:created xsi:type="dcterms:W3CDTF">2013-12-12T18:46:50Z</dcterms:created>
  <dcterms:modified xsi:type="dcterms:W3CDTF">2026-09-13T10:52:19Z</dcterms:modified>
  <cp:category/>
</cp:coreProperties>
</file>