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8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9/13/2026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9/13/2026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9/13/2026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9/13/2026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9/13/2026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9/13/2026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9/13/2026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27622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lang="en-US" sz="1700"/>
              <a:t>Problem Statement ID – 26057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lang="en-US" sz="1700"/>
              <a:t>Problem Statement Title- AI-Powered Automated Underwater Marine Debris and Anomaly Detection System using Side-Scan Sonar Imagery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lang="en-US" sz="1700"/>
              <a:t>Theme- Disaster Management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lang="en-US" sz="1700"/>
              <a:t>PS Category- Software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lang="en-US" sz="1700"/>
              <a:t>Team ID- &lt;Team ID&gt;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lang="en-US" sz="1700"/>
              <a:t>Team Name (Registered on portal)- Vashishta</a:t>
            </a:r>
            <a:endParaRPr lang="en-IN" sz="17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r>
              <a:rPr lang="en-US" sz="3600" b="1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IDEA TITLE: SonarSentinel</a:t>
            </a:r>
            <a:endParaRPr lang="en-US" sz="3600" b="1" dirty="0">
              <a:latin typeface="Times New Roman" panose="02020603050405020304" pitchFamily="18" charset="0"/>
              <a:ea typeface="ＭＳ Ｐゴシック" pitchFamily="1" charset="-128"/>
              <a:cs typeface="Times New Roman" panose="02020603050405020304" pitchFamily="18" charset="0"/>
            </a:endParaRP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1905000" y="1016000"/>
            <a:ext cx="7620000" cy="558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tIns="0" bIns="0">
            <a:noAutofit/>
          </a:bodyPr>
          <a:lstStyle/>
          <a:p>
            <a:pPr marL="342900" indent="-342900"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v"/>
            </a:pPr>
            <a:r>
              <a:rPr lang="en-US" sz="900" b="1" i="1" u="sng" dirty="0">
                <a:solidFill>
                  <a:srgbClr val="6B7280"/>
                </a:solidFill>
                <a:latin typeface="Arial" pitchFamily="34" charset="0"/>
                <a:cs typeface="Arial" pitchFamily="34" charset="0"/>
              </a:rPr>
              <a:t>Proposed Solution (Describe your Idea/Solution/Prototype)</a:t>
            </a:r>
            <a:endParaRPr lang="en-US" sz="900" i="1" u="sng" dirty="0">
              <a:solidFill>
                <a:srgbClr val="6B7280"/>
              </a:solidFill>
              <a:latin typeface="Arial" pitchFamily="34" charset="0"/>
              <a:cs typeface="Arial" pitchFamily="34" charset="0"/>
            </a:endParaRPr>
          </a:p>
          <a:p>
            <a:pPr marL="342900" indent="-34290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900" i="1" u="sng" dirty="0">
              <a:solidFill>
                <a:srgbClr val="6B7280"/>
              </a:solidFill>
              <a:latin typeface="Arial" pitchFamily="34" charset="0"/>
              <a:cs typeface="Arial" pitchFamily="34" charset="0"/>
            </a:endParaRPr>
          </a:p>
          <a:p>
            <a:pPr marL="342900" indent="-34290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900" i="1" u="sng" dirty="0">
              <a:solidFill>
                <a:srgbClr val="6B7280"/>
              </a:solidFill>
              <a:latin typeface="Arial" pitchFamily="34" charset="0"/>
              <a:cs typeface="Arial" pitchFamily="34" charset="0"/>
            </a:endParaRPr>
          </a:p>
          <a:p>
            <a:pPr marL="342900" indent="-342900" algn="just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cs typeface="Arial" pitchFamily="34" charset="0"/>
              </a:rPr>
              <a:t>Detailed explanation of the proposed solution</a:t>
            </a:r>
          </a:p>
          <a:p>
            <a:pPr marL="342900" indent="-342900" algn="just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cs typeface="Arial" pitchFamily="34" charset="0"/>
              </a:rPr>
              <a:t> How it addresses the problem</a:t>
            </a:r>
          </a:p>
          <a:p>
            <a:pPr marL="342900" indent="-342900" algn="just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cs typeface="Arial" pitchFamily="34" charset="0"/>
              </a:rPr>
              <a:t>Innovation and uniqueness of the solution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none" lIns="25400" rIns="25400" rtlCol="0" anchor="ctr"/>
          <a:lstStyle/>
          <a:p>
            <a:pPr algn="ctr"/>
            <a:r>
              <a:rPr lang="en-US" sz="1300"/>
              <a:t>Vashishta</a:t>
            </a:r>
            <a:endParaRPr lang="en-IN" sz="1300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02C2989-5906-D6AF-B4A1-8D9E478D2FC4}"/>
              </a:ext>
            </a:extLst>
          </p:cNvPr>
          <p:cNvSpPr txBox="1"/>
          <p:nvPr/>
        </p:nvSpPr>
        <p:spPr>
          <a:xfrm>
            <a:off x="508000" y="1727200"/>
            <a:ext cx="7175500" cy="4521200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IN" sz="1250" b="1">
                <a:solidFill>
                  <a:srgbClr val="1F2937"/>
                </a:solidFill>
              </a:rPr>
              <a:t>Proposed solution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IN" sz="1250">
                <a:solidFill>
                  <a:srgbClr val="1F2937"/>
                </a:solidFill>
              </a:rPr>
              <a:t>SonarSentinel is an end-to-end AI pipeline + map dashboard that reads raw side-scan sonar logs (.xtf, GeoTIFF, image + navigation CSV), detects man-made debris and ghost nets, and reports each hazard's GPS position, size, class and a 0–100% confidence.</a:t>
            </a:r>
          </a:p>
          <a:p>
            <a:pPr>
              <a:spcBef>
                <a:spcPts val="700"/>
              </a:spcBef>
              <a:spcAft>
                <a:spcPts val="300"/>
              </a:spcAft>
            </a:pPr>
            <a:r>
              <a:rPr lang="en-IN" sz="1250" b="1">
                <a:solidFill>
                  <a:srgbClr val="1F2937"/>
                </a:solidFill>
              </a:rPr>
              <a:t>How it addresses the problem</a:t>
            </a:r>
          </a:p>
          <a:p>
            <a:pPr marL="342900" indent="-342900">
              <a:spcBef>
                <a:spcPts val="0"/>
              </a:spcBef>
              <a:spcAft>
                <a:spcPts val="300"/>
              </a:spcAft>
              <a:buFont typeface="+mj-lt"/>
              <a:buChar char="•"/>
            </a:pPr>
            <a:r>
              <a:rPr lang="en-IN" sz="1250">
                <a:solidFill>
                  <a:srgbClr val="1F2937"/>
                </a:solidFill>
              </a:rPr>
              <a:t>Replaces slow manual review of sonar logs with automatic detection shown live on a map</a:t>
            </a:r>
          </a:p>
          <a:p>
            <a:pPr marL="342900" indent="-342900">
              <a:spcBef>
                <a:spcPts val="0"/>
              </a:spcBef>
              <a:spcAft>
                <a:spcPts val="300"/>
              </a:spcAft>
              <a:buFont typeface="+mj-lt"/>
              <a:buChar char="•"/>
            </a:pPr>
            <a:r>
              <a:rPr lang="en-IN" sz="1250">
                <a:solidFill>
                  <a:srgbClr val="1F2937"/>
                </a:solidFill>
              </a:rPr>
              <a:t>Separates debris from rocks, sand ripples and acoustic shadows using sonar physics + AI</a:t>
            </a:r>
          </a:p>
          <a:p>
            <a:pPr marL="342900" indent="-342900">
              <a:spcBef>
                <a:spcPts val="0"/>
              </a:spcBef>
              <a:spcAft>
                <a:spcPts val="300"/>
              </a:spcAft>
              <a:buFont typeface="+mj-lt"/>
              <a:buChar char="•"/>
            </a:pPr>
            <a:r>
              <a:rPr lang="en-IN" sz="1250">
                <a:solidFill>
                  <a:srgbClr val="1F2937"/>
                </a:solidFill>
              </a:rPr>
              <a:t>Handles speckle noise, varying pixel resolution, data dropouts and heave / pitch / roll</a:t>
            </a:r>
          </a:p>
          <a:p>
            <a:pPr marL="342900" indent="-342900">
              <a:spcBef>
                <a:spcPts val="0"/>
              </a:spcBef>
              <a:spcAft>
                <a:spcPts val="300"/>
              </a:spcAft>
              <a:buFont typeface="+mj-lt"/>
              <a:buChar char="•"/>
            </a:pPr>
            <a:r>
              <a:rPr lang="en-IN" sz="1250">
                <a:solidFill>
                  <a:srgbClr val="1F2937"/>
                </a:solidFill>
              </a:rPr>
              <a:t>Runs offline on a laptop or on an AUV / marine-drone edge computer</a:t>
            </a:r>
          </a:p>
          <a:p>
            <a:pPr>
              <a:spcBef>
                <a:spcPts val="700"/>
              </a:spcBef>
              <a:spcAft>
                <a:spcPts val="300"/>
              </a:spcAft>
            </a:pPr>
            <a:r>
              <a:rPr lang="en-IN" sz="1250" b="1">
                <a:solidFill>
                  <a:srgbClr val="1F2937"/>
                </a:solidFill>
              </a:rPr>
              <a:t>Innovation and uniqueness</a:t>
            </a:r>
          </a:p>
          <a:p>
            <a:pPr marL="342900" indent="-342900">
              <a:spcBef>
                <a:spcPts val="0"/>
              </a:spcBef>
              <a:spcAft>
                <a:spcPts val="300"/>
              </a:spcAft>
              <a:buFont typeface="+mj-lt"/>
              <a:buChar char="•"/>
            </a:pPr>
            <a:r>
              <a:rPr lang="en-IN" sz="1250">
                <a:solidFill>
                  <a:srgbClr val="1F2937"/>
                </a:solidFill>
              </a:rPr>
              <a:t>GPS computed from sonar ping headers: every detection geotagged with an uncertainty estimate</a:t>
            </a:r>
          </a:p>
          <a:p>
            <a:pPr marL="342900" indent="-342900">
              <a:spcBef>
                <a:spcPts val="0"/>
              </a:spcBef>
              <a:spcAft>
                <a:spcPts val="300"/>
              </a:spcAft>
              <a:buFont typeface="+mj-lt"/>
              <a:buChar char="•"/>
            </a:pPr>
            <a:r>
              <a:rPr lang="en-IN" sz="1250">
                <a:solidFill>
                  <a:srgbClr val="1F2937"/>
                </a:solidFill>
              </a:rPr>
              <a:t>Finds ghost nets without a ghost-net dataset: synthetic nets + anomaly detection + expert review loop</a:t>
            </a:r>
          </a:p>
          <a:p>
            <a:pPr marL="342900" indent="-342900">
              <a:spcBef>
                <a:spcPts val="0"/>
              </a:spcBef>
              <a:spcAft>
                <a:spcPts val="300"/>
              </a:spcAft>
              <a:buFont typeface="+mj-lt"/>
              <a:buChar char="•"/>
            </a:pPr>
            <a:r>
              <a:rPr lang="en-IN" sz="1250">
                <a:solidFill>
                  <a:srgbClr val="1F2937"/>
                </a:solidFill>
              </a:rPr>
              <a:t>Physics-aware, calibrated and explainable confidence (shadow-geometry check + score breakdown)</a:t>
            </a:r>
          </a:p>
          <a:p>
            <a:pPr marL="342900" indent="-342900">
              <a:spcBef>
                <a:spcPts val="0"/>
              </a:spcBef>
              <a:spcAft>
                <a:spcPts val="300"/>
              </a:spcAft>
              <a:buFont typeface="+mj-lt"/>
              <a:buChar char="•"/>
            </a:pPr>
            <a:r>
              <a:rPr lang="en-IN" sz="1250">
                <a:solidFill>
                  <a:srgbClr val="1F2937"/>
                </a:solidFill>
              </a:rPr>
              <a:t>Edge-ready (INT8 TensorRT / OpenVINO) with open outputs: JSON, CSV, GeoJSON, KML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53B6A47-C5F4-B914-E1C3-02C214D48C2C}"/>
              </a:ext>
            </a:extLst>
          </p:cNvPr>
          <p:cNvSpPr/>
          <p:nvPr/>
        </p:nvSpPr>
        <p:spPr>
          <a:xfrm>
            <a:off x="7848600" y="1676400"/>
            <a:ext cx="3810000" cy="3175000"/>
          </a:xfrm>
          <a:prstGeom prst="roundRect">
            <a:avLst/>
          </a:prstGeom>
          <a:solidFill>
            <a:srgbClr val="E8F1F8"/>
          </a:solidFill>
          <a:ln w="15875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06FFA9-F444-E05E-2429-98C92BD69AD7}"/>
              </a:ext>
            </a:extLst>
          </p:cNvPr>
          <p:cNvSpPr txBox="1"/>
          <p:nvPr/>
        </p:nvSpPr>
        <p:spPr>
          <a:xfrm>
            <a:off x="7975600" y="1778000"/>
            <a:ext cx="3556000" cy="2997200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IN" sz="1200" b="1">
                <a:solidFill>
                  <a:srgbClr val="1F2937"/>
                </a:solidFill>
              </a:rPr>
              <a:t>Example output (illustrative)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IN" sz="1200">
                <a:solidFill>
                  <a:srgbClr val="1F2937"/>
                </a:solidFill>
              </a:rPr>
              <a:t>Class: ghost net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IN" sz="1200">
                <a:solidFill>
                  <a:srgbClr val="1F2937"/>
                </a:solidFill>
              </a:rPr>
              <a:t>Confidence: 87.4%  ·  HAZARD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IN" sz="1200">
                <a:solidFill>
                  <a:srgbClr val="1F2937"/>
                </a:solidFill>
              </a:rPr>
              <a:t>Position: 13.084120 N, 80.312750 E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IN" sz="1200">
                <a:solidFill>
                  <a:srgbClr val="1F2937"/>
                </a:solidFill>
              </a:rPr>
              <a:t>Size: 6.2 m × 3.1 m  ·  Depth: 18.5 m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IN" sz="1200">
                <a:solidFill>
                  <a:srgbClr val="1F2937"/>
                </a:solidFill>
              </a:rPr>
              <a:t>Position uncertainty: ± 4.2 m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IN" sz="1200">
                <a:solidFill>
                  <a:srgbClr val="1F2937"/>
                </a:solidFill>
              </a:rPr>
              <a:t>Source: line_07.xtf, starboard side, pings 10,398–10,466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IN" sz="1200">
                <a:solidFill>
                  <a:srgbClr val="1F2937"/>
                </a:solidFill>
              </a:rPr>
              <a:t>Delivered as JSON / CSV / KML for dive and ROV teams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08AAD762-3510-76C1-676C-F15EF090034C}"/>
              </a:ext>
            </a:extLst>
          </p:cNvPr>
          <p:cNvSpPr/>
          <p:nvPr/>
        </p:nvSpPr>
        <p:spPr>
          <a:xfrm>
            <a:off x="7848600" y="4978400"/>
            <a:ext cx="3810000" cy="1168400"/>
          </a:xfrm>
          <a:prstGeom prst="roundRect">
            <a:avLst/>
          </a:prstGeom>
          <a:solidFill>
            <a:srgbClr val="0B1D2E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800" rIns="5080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lang="en-IN" sz="1200" b="1">
                <a:solidFill>
                  <a:srgbClr val="FFFFFF"/>
                </a:solidFill>
              </a:rPr>
              <a:t>Workflow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lang="en-IN" sz="1200">
                <a:solidFill>
                  <a:srgbClr val="FFFFFF"/>
                </a:solidFill>
              </a:rPr>
              <a:t>Upload sonar log → Detect → Score → Geotag → Live map + report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1905000" y="1016000"/>
            <a:ext cx="7620000" cy="558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tIns="0" bIns="0">
            <a:noAutofit/>
          </a:bodyPr>
          <a:lstStyle/>
          <a:p>
            <a:pPr marL="342900" indent="-342900" algn="just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cs typeface="Arial" pitchFamily="34" charset="0"/>
              </a:rPr>
              <a:t>Technologies to be used (e.g. programming languages, frameworks, hardware)</a:t>
            </a:r>
          </a:p>
          <a:p>
            <a:pPr marL="342900" indent="-342900" algn="just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cs typeface="Arial" pitchFamily="34" charset="0"/>
              </a:rPr>
              <a:t>Methodology and process for implementation (Flow Charts/Images/ working prototype)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none" lIns="25400" rIns="25400" rtlCol="0" anchor="ctr"/>
          <a:lstStyle/>
          <a:p>
            <a:pPr algn="ctr"/>
            <a:r>
              <a:rPr lang="en-US" sz="1300"/>
              <a:t>Vashishta</a:t>
            </a:r>
            <a:endParaRPr lang="en-IN" sz="1300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49CBC1B-180E-B149-3AB0-8FECAFF9EC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91693733"/>
              </p:ext>
            </p:extLst>
          </p:nvPr>
        </p:nvGraphicFramePr>
        <p:xfrm>
          <a:off x="508000" y="1574800"/>
          <a:ext cx="11176000" cy="25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59000">
                  <a:extLst>
                    <a:ext uri="{9D8B030D-6E8A-4147-A177-3AD203B41FA5}">
                      <a16:colId xmlns:a16="http://schemas.microsoft.com/office/drawing/2014/main" val="3281345459"/>
                    </a:ext>
                  </a:extLst>
                </a:gridCol>
                <a:gridCol w="9017000">
                  <a:extLst>
                    <a:ext uri="{9D8B030D-6E8A-4147-A177-3AD203B41FA5}">
                      <a16:colId xmlns:a16="http://schemas.microsoft.com/office/drawing/2014/main" val="242274928"/>
                    </a:ext>
                  </a:extLst>
                </a:gridCol>
              </a:tblGrid>
              <a:tr h="127000">
                <a:tc>
                  <a:txBody>
                    <a:bodyPr/>
                    <a:lstStyle/>
                    <a:p>
                      <a:r>
                        <a:rPr lang="en-IN" sz="1050" b="1"/>
                        <a:t>Layer</a:t>
                      </a:r>
                    </a:p>
                  </a:txBody>
                  <a:tcPr marT="38100" marB="38100"/>
                </a:tc>
                <a:tc>
                  <a:txBody>
                    <a:bodyPr/>
                    <a:lstStyle/>
                    <a:p>
                      <a:r>
                        <a:rPr lang="en-IN" sz="1050" b="1"/>
                        <a:t>Technologies to be used</a:t>
                      </a:r>
                    </a:p>
                  </a:txBody>
                  <a:tcPr marT="38100" marB="38100"/>
                </a:tc>
                <a:extLst>
                  <a:ext uri="{0D108BD9-81ED-4DB2-BD59-A6C34878D82A}">
                    <a16:rowId xmlns:a16="http://schemas.microsoft.com/office/drawing/2014/main" val="2582042158"/>
                  </a:ext>
                </a:extLst>
              </a:tr>
              <a:tr h="127000">
                <a:tc>
                  <a:txBody>
                    <a:bodyPr/>
                    <a:lstStyle/>
                    <a:p>
                      <a:r>
                        <a:rPr lang="en-IN" sz="1050" b="1"/>
                        <a:t>Sonar I/O &amp; geo</a:t>
                      </a:r>
                    </a:p>
                  </a:txBody>
                  <a:tcPr marT="38100" marB="38100"/>
                </a:tc>
                <a:tc>
                  <a:txBody>
                    <a:bodyPr/>
                    <a:lstStyle/>
                    <a:p>
                      <a:r>
                        <a:rPr lang="en-IN" sz="1050"/>
                        <a:t>Python 3.11 · pyxtf (XTF ping headers) · GDAL / rasterio · pyproj</a:t>
                      </a:r>
                    </a:p>
                  </a:txBody>
                  <a:tcPr marT="38100" marB="38100"/>
                </a:tc>
                <a:extLst>
                  <a:ext uri="{0D108BD9-81ED-4DB2-BD59-A6C34878D82A}">
                    <a16:rowId xmlns:a16="http://schemas.microsoft.com/office/drawing/2014/main" val="267640221"/>
                  </a:ext>
                </a:extLst>
              </a:tr>
              <a:tr h="127000">
                <a:tc>
                  <a:txBody>
                    <a:bodyPr/>
                    <a:lstStyle/>
                    <a:p>
                      <a:r>
                        <a:rPr lang="en-IN" sz="1050" b="1"/>
                        <a:t>Signal processing</a:t>
                      </a:r>
                    </a:p>
                  </a:txBody>
                  <a:tcPr marT="38100" marB="38100"/>
                </a:tc>
                <a:tc>
                  <a:txBody>
                    <a:bodyPr/>
                    <a:lstStyle/>
                    <a:p>
                      <a:r>
                        <a:rPr lang="en-US" sz="1050"/>
                        <a:t>OpenCV · NumPy / SciPy: Lee despeckle, slant-range correction, gain normalisation, dropout &amp; motion masks</a:t>
                      </a:r>
                      <a:endParaRPr lang="en-IN" sz="1050"/>
                    </a:p>
                  </a:txBody>
                  <a:tcPr marT="38100" marB="38100"/>
                </a:tc>
                <a:extLst>
                  <a:ext uri="{0D108BD9-81ED-4DB2-BD59-A6C34878D82A}">
                    <a16:rowId xmlns:a16="http://schemas.microsoft.com/office/drawing/2014/main" val="1336790835"/>
                  </a:ext>
                </a:extLst>
              </a:tr>
              <a:tr h="127000">
                <a:tc>
                  <a:txBody>
                    <a:bodyPr/>
                    <a:lstStyle/>
                    <a:p>
                      <a:r>
                        <a:rPr lang="en-IN" sz="1050" b="1"/>
                        <a:t>AI models</a:t>
                      </a:r>
                    </a:p>
                  </a:txBody>
                  <a:tcPr marT="38100" marB="38100"/>
                </a:tc>
                <a:tc>
                  <a:txBody>
                    <a:bodyPr/>
                    <a:lstStyle/>
                    <a:p>
                      <a:r>
                        <a:rPr lang="en-IN" sz="1050"/>
                        <a:t>YOLO11-seg + SAHI (detection &amp; masks) · PatchCore / anomalib (unknown objects) · LightGBM false-positive filter · isotonic calibration</a:t>
                      </a:r>
                    </a:p>
                  </a:txBody>
                  <a:tcPr marT="38100" marB="38100"/>
                </a:tc>
                <a:extLst>
                  <a:ext uri="{0D108BD9-81ED-4DB2-BD59-A6C34878D82A}">
                    <a16:rowId xmlns:a16="http://schemas.microsoft.com/office/drawing/2014/main" val="3507984981"/>
                  </a:ext>
                </a:extLst>
              </a:tr>
              <a:tr h="127000">
                <a:tc>
                  <a:txBody>
                    <a:bodyPr/>
                    <a:lstStyle/>
                    <a:p>
                      <a:r>
                        <a:rPr lang="en-IN" sz="1050" b="1"/>
                        <a:t>Application</a:t>
                      </a:r>
                    </a:p>
                  </a:txBody>
                  <a:tcPr marT="38100" marB="38100"/>
                </a:tc>
                <a:tc>
                  <a:txBody>
                    <a:bodyPr/>
                    <a:lstStyle/>
                    <a:p>
                      <a:r>
                        <a:rPr lang="en-IN" sz="1050"/>
                        <a:t>FastAPI (REST + WebSocket live streaming) · React + Leaflet (offline maps) · SQLite → PostGIS</a:t>
                      </a:r>
                    </a:p>
                  </a:txBody>
                  <a:tcPr marT="38100" marB="38100"/>
                </a:tc>
                <a:extLst>
                  <a:ext uri="{0D108BD9-81ED-4DB2-BD59-A6C34878D82A}">
                    <a16:rowId xmlns:a16="http://schemas.microsoft.com/office/drawing/2014/main" val="2015204842"/>
                  </a:ext>
                </a:extLst>
              </a:tr>
              <a:tr h="127000">
                <a:tc>
                  <a:txBody>
                    <a:bodyPr/>
                    <a:lstStyle/>
                    <a:p>
                      <a:r>
                        <a:rPr lang="en-IN" sz="1050" b="1"/>
                        <a:t>Edge &amp; deployment</a:t>
                      </a:r>
                    </a:p>
                  </a:txBody>
                  <a:tcPr marT="38100" marB="38100"/>
                </a:tc>
                <a:tc>
                  <a:txBody>
                    <a:bodyPr/>
                    <a:lstStyle/>
                    <a:p>
                      <a:r>
                        <a:rPr lang="en-IN" sz="1050"/>
                        <a:t>ONNX · TensorRT (NVIDIA Jetson) · OpenVINO INT8 · Docker</a:t>
                      </a:r>
                    </a:p>
                  </a:txBody>
                  <a:tcPr marT="38100" marB="38100"/>
                </a:tc>
                <a:extLst>
                  <a:ext uri="{0D108BD9-81ED-4DB2-BD59-A6C34878D82A}">
                    <a16:rowId xmlns:a16="http://schemas.microsoft.com/office/drawing/2014/main" val="4093995938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90FDC309-FE72-3998-A2BB-370FE068B277}"/>
              </a:ext>
            </a:extLst>
          </p:cNvPr>
          <p:cNvSpPr txBox="1"/>
          <p:nvPr/>
        </p:nvSpPr>
        <p:spPr>
          <a:xfrm>
            <a:off x="508000" y="3784600"/>
            <a:ext cx="11176000" cy="254000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US" sz="1250" b="1">
                <a:solidFill>
                  <a:srgbClr val="1F2937"/>
                </a:solidFill>
              </a:rPr>
              <a:t>Methodology and process for implementation</a:t>
            </a:r>
            <a:endParaRPr lang="en-IN" sz="1250" b="1">
              <a:solidFill>
                <a:srgbClr val="1F2937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BACE06F-0DE1-03E7-74C1-A86666F8A2BD}"/>
              </a:ext>
            </a:extLst>
          </p:cNvPr>
          <p:cNvSpPr/>
          <p:nvPr/>
        </p:nvSpPr>
        <p:spPr>
          <a:xfrm>
            <a:off x="558800" y="4089400"/>
            <a:ext cx="1625600" cy="1295400"/>
          </a:xfrm>
          <a:prstGeom prst="roundRect">
            <a:avLst/>
          </a:prstGeom>
          <a:solidFill>
            <a:srgbClr val="0B1D2E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800" rIns="5080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lang="en-US" sz="1000" b="1">
                <a:solidFill>
                  <a:srgbClr val="FFFFFF"/>
                </a:solidFill>
              </a:rPr>
              <a:t>1 · Upload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lang="en-US" sz="1000">
                <a:solidFill>
                  <a:srgbClr val="FFFFFF"/>
                </a:solidFill>
              </a:rPr>
              <a:t>raw .xtf / GeoTIFF / image + nav CSV</a:t>
            </a:r>
            <a:endParaRPr lang="en-IN" sz="1000">
              <a:solidFill>
                <a:srgbClr val="FFFFFF"/>
              </a:solidFill>
            </a:endParaRPr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C71060ED-7DAF-BACB-4618-CCAC5F8D38C9}"/>
              </a:ext>
            </a:extLst>
          </p:cNvPr>
          <p:cNvSpPr/>
          <p:nvPr/>
        </p:nvSpPr>
        <p:spPr>
          <a:xfrm>
            <a:off x="2209800" y="4622800"/>
            <a:ext cx="203200" cy="203200"/>
          </a:xfrm>
          <a:prstGeom prst="rightArrow">
            <a:avLst/>
          </a:prstGeom>
          <a:gradFill flip="none" rotWithShape="1">
            <a:gsLst>
              <a:gs pos="0">
                <a:srgbClr val="6B7280"/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  <a:lin ang="16200000" scaled="0"/>
            <a:tileRect/>
          </a:gra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6B9E681-F323-4219-DBD5-93F1DDA0536B}"/>
              </a:ext>
            </a:extLst>
          </p:cNvPr>
          <p:cNvSpPr/>
          <p:nvPr/>
        </p:nvSpPr>
        <p:spPr>
          <a:xfrm>
            <a:off x="2438400" y="4089400"/>
            <a:ext cx="1625600" cy="1295400"/>
          </a:xfrm>
          <a:prstGeom prst="roundRect">
            <a:avLst/>
          </a:prstGeom>
          <a:solidFill>
            <a:srgbClr val="0E7C86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800" rIns="5080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lang="en-US" sz="1000" b="1">
                <a:solidFill>
                  <a:srgbClr val="FFFFFF"/>
                </a:solidFill>
              </a:rPr>
              <a:t>2 · Parse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lang="en-US" sz="1000">
                <a:solidFill>
                  <a:srgbClr val="FFFFFF"/>
                </a:solidFill>
              </a:rPr>
              <a:t>pings + GPS, heading, altitude, range</a:t>
            </a:r>
            <a:endParaRPr lang="en-IN" sz="1000">
              <a:solidFill>
                <a:srgbClr val="FFFFFF"/>
              </a:solidFill>
            </a:endParaRP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8A7E73A7-358C-5E16-551E-3603679A5125}"/>
              </a:ext>
            </a:extLst>
          </p:cNvPr>
          <p:cNvSpPr/>
          <p:nvPr/>
        </p:nvSpPr>
        <p:spPr>
          <a:xfrm>
            <a:off x="4089400" y="4622800"/>
            <a:ext cx="203200" cy="203200"/>
          </a:xfrm>
          <a:prstGeom prst="rightArrow">
            <a:avLst/>
          </a:prstGeom>
          <a:gradFill flip="none" rotWithShape="1">
            <a:gsLst>
              <a:gs pos="0">
                <a:srgbClr val="6B7280"/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  <a:lin ang="16200000" scaled="0"/>
            <a:tileRect/>
          </a:gra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D6C137D1-FAB6-899F-8975-2ADD9069466B}"/>
              </a:ext>
            </a:extLst>
          </p:cNvPr>
          <p:cNvSpPr/>
          <p:nvPr/>
        </p:nvSpPr>
        <p:spPr>
          <a:xfrm>
            <a:off x="4318000" y="4089400"/>
            <a:ext cx="1625600" cy="1295400"/>
          </a:xfrm>
          <a:prstGeom prst="roundRect">
            <a:avLst/>
          </a:prstGeom>
          <a:solidFill>
            <a:srgbClr val="0B1D2E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800" rIns="5080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lang="en-IN" sz="1000" b="1">
                <a:solidFill>
                  <a:srgbClr val="FFFFFF"/>
                </a:solidFill>
              </a:rPr>
              <a:t>3 · Preprocess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lang="en-IN" sz="1000">
                <a:solidFill>
                  <a:srgbClr val="FFFFFF"/>
                </a:solidFill>
              </a:rPr>
              <a:t>despeckle · slant-range · gain · dropout &amp; motion masks</a:t>
            </a:r>
          </a:p>
        </p:txBody>
      </p: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CD4B0004-3D69-B116-D304-B557D9DF0767}"/>
              </a:ext>
            </a:extLst>
          </p:cNvPr>
          <p:cNvSpPr/>
          <p:nvPr/>
        </p:nvSpPr>
        <p:spPr>
          <a:xfrm>
            <a:off x="5969000" y="4622800"/>
            <a:ext cx="203200" cy="203200"/>
          </a:xfrm>
          <a:prstGeom prst="rightArrow">
            <a:avLst/>
          </a:prstGeom>
          <a:gradFill flip="none" rotWithShape="1">
            <a:gsLst>
              <a:gs pos="0">
                <a:srgbClr val="6B7280"/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  <a:lin ang="16200000" scaled="0"/>
            <a:tileRect/>
          </a:gra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6B8A814-16D3-1737-1481-68FE787E1AA9}"/>
              </a:ext>
            </a:extLst>
          </p:cNvPr>
          <p:cNvSpPr/>
          <p:nvPr/>
        </p:nvSpPr>
        <p:spPr>
          <a:xfrm>
            <a:off x="6197600" y="4089400"/>
            <a:ext cx="1625600" cy="1295400"/>
          </a:xfrm>
          <a:prstGeom prst="roundRect">
            <a:avLst/>
          </a:prstGeom>
          <a:solidFill>
            <a:srgbClr val="0E7C86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800" rIns="5080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lang="en-IN" sz="1000" b="1">
                <a:solidFill>
                  <a:srgbClr val="FFFFFF"/>
                </a:solidFill>
              </a:rPr>
              <a:t>4 · Detect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lang="en-IN" sz="1000">
                <a:solidFill>
                  <a:srgbClr val="FFFFFF"/>
                </a:solidFill>
              </a:rPr>
              <a:t>YOLO11-seg + SAHI · PatchCore anomalies</a:t>
            </a:r>
          </a:p>
        </p:txBody>
      </p:sp>
      <p:sp>
        <p:nvSpPr>
          <p:cNvPr id="16" name="Arrow: Right 15">
            <a:extLst>
              <a:ext uri="{FF2B5EF4-FFF2-40B4-BE49-F238E27FC236}">
                <a16:creationId xmlns:a16="http://schemas.microsoft.com/office/drawing/2014/main" id="{D25EBC57-AEEA-EE26-ABAE-71F661B422FD}"/>
              </a:ext>
            </a:extLst>
          </p:cNvPr>
          <p:cNvSpPr/>
          <p:nvPr/>
        </p:nvSpPr>
        <p:spPr>
          <a:xfrm>
            <a:off x="7848600" y="4622800"/>
            <a:ext cx="203200" cy="203200"/>
          </a:xfrm>
          <a:prstGeom prst="rightArrow">
            <a:avLst/>
          </a:prstGeom>
          <a:gradFill flip="none" rotWithShape="1">
            <a:gsLst>
              <a:gs pos="0">
                <a:srgbClr val="6B7280"/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  <a:lin ang="16200000" scaled="0"/>
            <a:tileRect/>
          </a:gra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B87F05E8-AD75-A44C-A9D9-AA9AD360F914}"/>
              </a:ext>
            </a:extLst>
          </p:cNvPr>
          <p:cNvSpPr/>
          <p:nvPr/>
        </p:nvSpPr>
        <p:spPr>
          <a:xfrm>
            <a:off x="8077200" y="4089400"/>
            <a:ext cx="1625600" cy="1295400"/>
          </a:xfrm>
          <a:prstGeom prst="roundRect">
            <a:avLst/>
          </a:prstGeom>
          <a:solidFill>
            <a:srgbClr val="0B1D2E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800" rIns="5080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lang="en-US" sz="1000" b="1">
                <a:solidFill>
                  <a:srgbClr val="FFFFFF"/>
                </a:solidFill>
              </a:rPr>
              <a:t>5 · Score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lang="en-US" sz="1000">
                <a:solidFill>
                  <a:srgbClr val="FFFFFF"/>
                </a:solidFill>
              </a:rPr>
              <a:t>shadow physics · FP filter · calibrated 0–100%</a:t>
            </a:r>
            <a:endParaRPr lang="en-IN" sz="1000">
              <a:solidFill>
                <a:srgbClr val="FFFFFF"/>
              </a:solidFill>
            </a:endParaRPr>
          </a:p>
        </p:txBody>
      </p:sp>
      <p:sp>
        <p:nvSpPr>
          <p:cNvPr id="18" name="Arrow: Right 17">
            <a:extLst>
              <a:ext uri="{FF2B5EF4-FFF2-40B4-BE49-F238E27FC236}">
                <a16:creationId xmlns:a16="http://schemas.microsoft.com/office/drawing/2014/main" id="{C3164907-A370-6601-5D4D-B97CBA8C4F6D}"/>
              </a:ext>
            </a:extLst>
          </p:cNvPr>
          <p:cNvSpPr/>
          <p:nvPr/>
        </p:nvSpPr>
        <p:spPr>
          <a:xfrm>
            <a:off x="9728200" y="4622800"/>
            <a:ext cx="203200" cy="203200"/>
          </a:xfrm>
          <a:prstGeom prst="rightArrow">
            <a:avLst/>
          </a:prstGeom>
          <a:gradFill flip="none" rotWithShape="1">
            <a:gsLst>
              <a:gs pos="0">
                <a:srgbClr val="6B7280"/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  <a:lin ang="16200000" scaled="0"/>
            <a:tileRect/>
          </a:gra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CD9E9F79-CFC2-B58E-7CA9-5BC05DDBA02F}"/>
              </a:ext>
            </a:extLst>
          </p:cNvPr>
          <p:cNvSpPr/>
          <p:nvPr/>
        </p:nvSpPr>
        <p:spPr>
          <a:xfrm>
            <a:off x="9956800" y="4089400"/>
            <a:ext cx="1625600" cy="1295400"/>
          </a:xfrm>
          <a:prstGeom prst="roundRect">
            <a:avLst/>
          </a:prstGeom>
          <a:solidFill>
            <a:srgbClr val="0E7C86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800" rIns="5080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lang="en-IN" sz="1000" b="1">
                <a:solidFill>
                  <a:srgbClr val="FFFFFF"/>
                </a:solidFill>
              </a:rPr>
              <a:t>6 · Geotag &amp; report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lang="en-IN" sz="1000">
                <a:solidFill>
                  <a:srgbClr val="FFFFFF"/>
                </a:solidFill>
              </a:rPr>
              <a:t>lat/lon, size, depth → live map + JSON/CSV/KML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A626426-132C-C8A8-CC65-02B577DDAC9B}"/>
              </a:ext>
            </a:extLst>
          </p:cNvPr>
          <p:cNvSpPr txBox="1"/>
          <p:nvPr/>
        </p:nvSpPr>
        <p:spPr>
          <a:xfrm>
            <a:off x="508000" y="5486400"/>
            <a:ext cx="11176000" cy="736600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228600" indent="-228600">
              <a:spcBef>
                <a:spcPts val="0"/>
              </a:spcBef>
              <a:spcAft>
                <a:spcPts val="300"/>
              </a:spcAft>
              <a:buFont typeface="+mj-lt"/>
              <a:buChar char="•"/>
            </a:pPr>
            <a:r>
              <a:rPr lang="en-US" sz="1100">
                <a:solidFill>
                  <a:srgbClr val="1F2937"/>
                </a:solidFill>
              </a:rPr>
              <a:t>Long sonar logs are processed in overlapping chunks and streamed to the map in real time (WebSocket)</a:t>
            </a:r>
          </a:p>
          <a:p>
            <a:pPr marL="228600" indent="-228600">
              <a:spcBef>
                <a:spcPts val="0"/>
              </a:spcBef>
              <a:spcAft>
                <a:spcPts val="300"/>
              </a:spcAft>
              <a:buFont typeface="+mj-lt"/>
              <a:buChar char="•"/>
            </a:pPr>
            <a:r>
              <a:rPr lang="en-US" sz="1100">
                <a:solidFill>
                  <a:srgbClr val="1F2937"/>
                </a:solidFill>
              </a:rPr>
              <a:t>Expert confirm / reject decisions become new training data; models are exported to ONNX for edge devices</a:t>
            </a:r>
            <a:endParaRPr lang="en-IN" sz="1100">
              <a:solidFill>
                <a:srgbClr val="1F2937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1905000" y="1016000"/>
            <a:ext cx="7620000" cy="558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tIns="0" bIns="0">
            <a:noAutofit/>
          </a:bodyPr>
          <a:lstStyle/>
          <a:p>
            <a:pPr marL="342900" marR="0" lvl="0" indent="-342900" algn="just" defTabSz="457200" rtl="0" eaLnBrk="1" fontAlgn="base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cs typeface="Arial" pitchFamily="34" charset="0"/>
              </a:rPr>
              <a:t>Analysis of the feasibility of the idea</a:t>
            </a:r>
            <a:endParaRPr kumimoji="0" lang="en-US" sz="900" b="0" i="1" u="none" strike="noStrike" kern="1200" cap="none" spc="0" normalizeH="0" baseline="0" noProof="0" dirty="0">
              <a:ln>
                <a:noFill/>
              </a:ln>
              <a:solidFill>
                <a:srgbClr val="6B7280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lvl="0" indent="-342900" algn="just" defTabSz="457200" rtl="0" eaLnBrk="1" fontAlgn="base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cs typeface="Arial" pitchFamily="34" charset="0"/>
              </a:rPr>
              <a:t>Potential challenges and risks</a:t>
            </a:r>
          </a:p>
          <a:p>
            <a:pPr marL="342900" marR="0" lvl="0" indent="-342900" algn="just" defTabSz="457200" rtl="0" eaLnBrk="1" fontAlgn="base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900" b="0" i="1" u="none" strike="noStrike" kern="1200" cap="none" spc="0" normalizeH="0" baseline="0" noProof="0" dirty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Arial" pitchFamily="34" charset="0"/>
                <a:ea typeface="ＭＳ Ｐゴシック" pitchFamily="1" charset="-128"/>
                <a:cs typeface="Arial" pitchFamily="34" charset="0"/>
              </a:rPr>
              <a:t>Strategies</a:t>
            </a:r>
            <a:r>
              <a:rPr kumimoji="0" lang="en-US" sz="900" b="0" i="1" u="none" strike="noStrike" kern="1200" cap="none" spc="0" normalizeH="0" noProof="0" dirty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Arial" pitchFamily="34" charset="0"/>
                <a:ea typeface="ＭＳ Ｐゴシック" pitchFamily="1" charset="-128"/>
                <a:cs typeface="Arial" pitchFamily="34" charset="0"/>
              </a:rPr>
              <a:t> for overcoming these challenges</a:t>
            </a:r>
            <a:endParaRPr kumimoji="0" lang="en-US" sz="900" b="0" i="1" u="none" strike="noStrike" kern="1200" cap="none" spc="0" normalizeH="0" baseline="0" noProof="0" dirty="0">
              <a:ln>
                <a:noFill/>
              </a:ln>
              <a:solidFill>
                <a:srgbClr val="6B7280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none" lIns="25400" rIns="25400" rtlCol="0" anchor="ctr"/>
          <a:lstStyle/>
          <a:p>
            <a:pPr algn="ctr"/>
            <a:r>
              <a:rPr lang="en-US" sz="1300"/>
              <a:t>Vashishta</a:t>
            </a:r>
            <a:endParaRPr lang="en-IN" sz="1300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1FC2CF8-8089-27D8-1DF3-1F9A9E786A44}"/>
              </a:ext>
            </a:extLst>
          </p:cNvPr>
          <p:cNvSpPr txBox="1"/>
          <p:nvPr/>
        </p:nvSpPr>
        <p:spPr>
          <a:xfrm>
            <a:off x="508000" y="1574800"/>
            <a:ext cx="11176000" cy="1320800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IN" sz="1200" b="1">
                <a:solidFill>
                  <a:srgbClr val="1F2937"/>
                </a:solidFill>
              </a:rPr>
              <a:t>Analysis of feasibility</a:t>
            </a:r>
          </a:p>
          <a:p>
            <a:pPr marL="228600" indent="-228600">
              <a:spcBef>
                <a:spcPts val="0"/>
              </a:spcBef>
              <a:spcAft>
                <a:spcPts val="300"/>
              </a:spcAft>
              <a:buFont typeface="+mj-lt"/>
              <a:buChar char="•"/>
            </a:pPr>
            <a:r>
              <a:rPr lang="en-IN" sz="1200">
                <a:solidFill>
                  <a:srgbClr val="1F2937"/>
                </a:solidFill>
              </a:rPr>
              <a:t>Fully open-source stack (AGPL-3.0): runs on a GPU laptop, CPU-only, or a Jetson-class edge computer</a:t>
            </a:r>
          </a:p>
          <a:p>
            <a:pPr marL="228600" indent="-228600">
              <a:spcBef>
                <a:spcPts val="0"/>
              </a:spcBef>
              <a:spcAft>
                <a:spcPts val="300"/>
              </a:spcAft>
              <a:buFont typeface="+mj-lt"/>
              <a:buChar char="•"/>
            </a:pPr>
            <a:r>
              <a:rPr lang="en-IN" sz="1200">
                <a:solidFill>
                  <a:srgbClr val="1F2937"/>
                </a:solidFill>
              </a:rPr>
              <a:t>Public data available now: AI4Shipwrecks (286 labelled SSS images), mine-detection SSS dataset (1,170 images, CC BY 4.0), NOAA hydrographic surveys with navigation</a:t>
            </a:r>
          </a:p>
          <a:p>
            <a:pPr marL="228600" indent="-228600">
              <a:spcBef>
                <a:spcPts val="0"/>
              </a:spcBef>
              <a:spcAft>
                <a:spcPts val="300"/>
              </a:spcAft>
              <a:buFont typeface="+mj-lt"/>
              <a:buChar char="•"/>
            </a:pPr>
            <a:r>
              <a:rPr lang="en-IN" sz="1200">
                <a:solidFill>
                  <a:srgbClr val="1F2937"/>
                </a:solidFill>
              </a:rPr>
              <a:t>Six-sprint build plan with weekly milestones; requirements, architecture and test plan already defined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806007D0-F9CF-3714-B427-FD26221D6B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8187453"/>
              </p:ext>
            </p:extLst>
          </p:nvPr>
        </p:nvGraphicFramePr>
        <p:xfrm>
          <a:off x="508000" y="2997200"/>
          <a:ext cx="11176000" cy="25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>
                  <a:extLst>
                    <a:ext uri="{9D8B030D-6E8A-4147-A177-3AD203B41FA5}">
                      <a16:colId xmlns:a16="http://schemas.microsoft.com/office/drawing/2014/main" val="1758079260"/>
                    </a:ext>
                  </a:extLst>
                </a:gridCol>
                <a:gridCol w="7366000">
                  <a:extLst>
                    <a:ext uri="{9D8B030D-6E8A-4147-A177-3AD203B41FA5}">
                      <a16:colId xmlns:a16="http://schemas.microsoft.com/office/drawing/2014/main" val="184081857"/>
                    </a:ext>
                  </a:extLst>
                </a:gridCol>
              </a:tblGrid>
              <a:tr h="127000">
                <a:tc>
                  <a:txBody>
                    <a:bodyPr/>
                    <a:lstStyle/>
                    <a:p>
                      <a:r>
                        <a:rPr lang="en-IN" sz="1050" b="1"/>
                        <a:t>Potential challenges and risks</a:t>
                      </a:r>
                    </a:p>
                  </a:txBody>
                  <a:tcPr marT="38100" marB="38100"/>
                </a:tc>
                <a:tc>
                  <a:txBody>
                    <a:bodyPr/>
                    <a:lstStyle/>
                    <a:p>
                      <a:r>
                        <a:rPr lang="en-IN" sz="1050" b="1"/>
                        <a:t>Strategies for overcoming them</a:t>
                      </a:r>
                    </a:p>
                  </a:txBody>
                  <a:tcPr marT="38100" marB="38100"/>
                </a:tc>
                <a:extLst>
                  <a:ext uri="{0D108BD9-81ED-4DB2-BD59-A6C34878D82A}">
                    <a16:rowId xmlns:a16="http://schemas.microsoft.com/office/drawing/2014/main" val="1964656261"/>
                  </a:ext>
                </a:extLst>
              </a:tr>
              <a:tr h="127000">
                <a:tc>
                  <a:txBody>
                    <a:bodyPr/>
                    <a:lstStyle/>
                    <a:p>
                      <a:r>
                        <a:rPr lang="en-IN" sz="1050" b="1"/>
                        <a:t>No public labelled ghost-net sonar dataset</a:t>
                      </a:r>
                    </a:p>
                  </a:txBody>
                  <a:tcPr marT="38100" marB="38100"/>
                </a:tc>
                <a:tc>
                  <a:txBody>
                    <a:bodyPr/>
                    <a:lstStyle/>
                    <a:p>
                      <a:r>
                        <a:rPr lang="en-US" sz="1050"/>
                        <a:t>Synthetic ghost-net generator on real seabed + anomaly detection + expert review queue that collects real labels</a:t>
                      </a:r>
                      <a:endParaRPr lang="en-IN" sz="1050"/>
                    </a:p>
                  </a:txBody>
                  <a:tcPr marT="38100" marB="38100"/>
                </a:tc>
                <a:extLst>
                  <a:ext uri="{0D108BD9-81ED-4DB2-BD59-A6C34878D82A}">
                    <a16:rowId xmlns:a16="http://schemas.microsoft.com/office/drawing/2014/main" val="3300502440"/>
                  </a:ext>
                </a:extLst>
              </a:tr>
              <a:tr h="127000">
                <a:tc>
                  <a:txBody>
                    <a:bodyPr/>
                    <a:lstStyle/>
                    <a:p>
                      <a:r>
                        <a:rPr lang="en-US" sz="1050" b="1"/>
                        <a:t>Rocks, sand ripples and shadows cause false alarms</a:t>
                      </a:r>
                      <a:endParaRPr lang="en-IN" sz="1050" b="1"/>
                    </a:p>
                  </a:txBody>
                  <a:tcPr marT="38100" marB="38100"/>
                </a:tc>
                <a:tc>
                  <a:txBody>
                    <a:bodyPr/>
                    <a:lstStyle/>
                    <a:p>
                      <a:r>
                        <a:rPr lang="en-US" sz="1050"/>
                        <a:t>Shadow-geometry check, shape / texture false-positive filter, hard-negative training, calibrated alert tiers</a:t>
                      </a:r>
                      <a:endParaRPr lang="en-IN" sz="1050"/>
                    </a:p>
                  </a:txBody>
                  <a:tcPr marT="38100" marB="38100"/>
                </a:tc>
                <a:extLst>
                  <a:ext uri="{0D108BD9-81ED-4DB2-BD59-A6C34878D82A}">
                    <a16:rowId xmlns:a16="http://schemas.microsoft.com/office/drawing/2014/main" val="2634564264"/>
                  </a:ext>
                </a:extLst>
              </a:tr>
              <a:tr h="127000">
                <a:tc>
                  <a:txBody>
                    <a:bodyPr/>
                    <a:lstStyle/>
                    <a:p>
                      <a:r>
                        <a:rPr lang="en-US" sz="1050" b="1"/>
                        <a:t>Different sonars, frequencies and resolutions</a:t>
                      </a:r>
                      <a:endParaRPr lang="en-IN" sz="1050" b="1"/>
                    </a:p>
                  </a:txBody>
                  <a:tcPr marT="38100" marB="38100"/>
                </a:tc>
                <a:tc>
                  <a:txBody>
                    <a:bodyPr/>
                    <a:lstStyle/>
                    <a:p>
                      <a:r>
                        <a:rPr lang="en-US" sz="1050"/>
                        <a:t>Resample to a fixed 10 cm / pixel, gain normalisation, sonar-specific augmentation, fine-tuning on NIOT samples</a:t>
                      </a:r>
                      <a:endParaRPr lang="en-IN" sz="1050"/>
                    </a:p>
                  </a:txBody>
                  <a:tcPr marT="38100" marB="38100"/>
                </a:tc>
                <a:extLst>
                  <a:ext uri="{0D108BD9-81ED-4DB2-BD59-A6C34878D82A}">
                    <a16:rowId xmlns:a16="http://schemas.microsoft.com/office/drawing/2014/main" val="663761460"/>
                  </a:ext>
                </a:extLst>
              </a:tr>
              <a:tr h="127000">
                <a:tc>
                  <a:txBody>
                    <a:bodyPr/>
                    <a:lstStyle/>
                    <a:p>
                      <a:r>
                        <a:rPr lang="en-US" sz="1050" b="1"/>
                        <a:t>Position errors (towfish layback, heading, GPS gaps)</a:t>
                      </a:r>
                      <a:endParaRPr lang="en-IN" sz="1050" b="1"/>
                    </a:p>
                  </a:txBody>
                  <a:tcPr marT="38100" marB="38100"/>
                </a:tc>
                <a:tc>
                  <a:txBody>
                    <a:bodyPr/>
                    <a:lstStyle/>
                    <a:p>
                      <a:r>
                        <a:rPr lang="en-US" sz="1050"/>
                        <a:t>Layback correction, navigation smoothing, per-detection uncertainty, validation against charted wrecks</a:t>
                      </a:r>
                      <a:endParaRPr lang="en-IN" sz="1050"/>
                    </a:p>
                  </a:txBody>
                  <a:tcPr marT="38100" marB="38100"/>
                </a:tc>
                <a:extLst>
                  <a:ext uri="{0D108BD9-81ED-4DB2-BD59-A6C34878D82A}">
                    <a16:rowId xmlns:a16="http://schemas.microsoft.com/office/drawing/2014/main" val="238638359"/>
                  </a:ext>
                </a:extLst>
              </a:tr>
              <a:tr h="127000">
                <a:tc>
                  <a:txBody>
                    <a:bodyPr/>
                    <a:lstStyle/>
                    <a:p>
                      <a:r>
                        <a:rPr lang="en-US" sz="1050" b="1"/>
                        <a:t>Limited compute on marine drones</a:t>
                      </a:r>
                      <a:endParaRPr lang="en-IN" sz="1050" b="1"/>
                    </a:p>
                  </a:txBody>
                  <a:tcPr marT="38100" marB="38100"/>
                </a:tc>
                <a:tc>
                  <a:txBody>
                    <a:bodyPr/>
                    <a:lstStyle/>
                    <a:p>
                      <a:r>
                        <a:rPr lang="en-US" sz="1050"/>
                        <a:t>Compact YOLO11 model with INT8 TensorRT / OpenVINO; heavy steps (anomaly model, mosaic) run on shore</a:t>
                      </a:r>
                      <a:endParaRPr lang="en-IN" sz="1050"/>
                    </a:p>
                  </a:txBody>
                  <a:tcPr marT="38100" marB="38100"/>
                </a:tc>
                <a:extLst>
                  <a:ext uri="{0D108BD9-81ED-4DB2-BD59-A6C34878D82A}">
                    <a16:rowId xmlns:a16="http://schemas.microsoft.com/office/drawing/2014/main" val="29853890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1905000" y="1016000"/>
            <a:ext cx="7620000" cy="558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tIns="0" bIns="0">
            <a:noAutofit/>
          </a:bodyPr>
          <a:lstStyle/>
          <a:p>
            <a:pPr marL="342900" marR="0" lvl="0" indent="-342900" algn="just" defTabSz="457200" rtl="0" eaLnBrk="1" fontAlgn="base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900" b="0" i="1" u="none" strike="noStrike" kern="1200" cap="none" spc="0" normalizeH="0" baseline="0" noProof="0" dirty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Arial" pitchFamily="34" charset="0"/>
                <a:ea typeface="ＭＳ Ｐゴシック" pitchFamily="1" charset="-128"/>
                <a:cs typeface="Arial" pitchFamily="34" charset="0"/>
              </a:rPr>
              <a:t>Potential impact on the target audience</a:t>
            </a:r>
          </a:p>
          <a:p>
            <a:pPr marL="342900" marR="0" lvl="0" indent="-342900" algn="just" defTabSz="457200" rtl="0" eaLnBrk="1" fontAlgn="base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cs typeface="Arial" pitchFamily="34" charset="0"/>
              </a:rPr>
              <a:t>Benefits of the solution (social, economic, environmental, etc.)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none" lIns="25400" rIns="25400" rtlCol="0" anchor="ctr"/>
          <a:lstStyle/>
          <a:p>
            <a:pPr algn="ctr"/>
            <a:r>
              <a:rPr lang="en-US" sz="1300"/>
              <a:t>Vashishta</a:t>
            </a:r>
            <a:endParaRPr lang="en-IN" sz="1300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7E45BDD-5746-426B-10B2-E85CA066CA6E}"/>
              </a:ext>
            </a:extLst>
          </p:cNvPr>
          <p:cNvSpPr txBox="1"/>
          <p:nvPr/>
        </p:nvSpPr>
        <p:spPr>
          <a:xfrm>
            <a:off x="508000" y="1574800"/>
            <a:ext cx="11176000" cy="1270000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IN" sz="1200" b="1">
                <a:solidFill>
                  <a:srgbClr val="1F2937"/>
                </a:solidFill>
              </a:rPr>
              <a:t>Potential impact on the target audience</a:t>
            </a:r>
          </a:p>
          <a:p>
            <a:pPr marL="228600" indent="-228600">
              <a:spcBef>
                <a:spcPts val="0"/>
              </a:spcBef>
              <a:spcAft>
                <a:spcPts val="300"/>
              </a:spcAft>
              <a:buFont typeface="+mj-lt"/>
              <a:buChar char="•"/>
            </a:pPr>
            <a:r>
              <a:rPr lang="en-IN" sz="1200">
                <a:solidFill>
                  <a:srgbClr val="1F2937"/>
                </a:solidFill>
              </a:rPr>
              <a:t>NIOT / MoES survey teams: automated screening of survey logs; analysts review only flagged hazards</a:t>
            </a:r>
          </a:p>
          <a:p>
            <a:pPr marL="228600" indent="-228600">
              <a:spcBef>
                <a:spcPts val="0"/>
              </a:spcBef>
              <a:spcAft>
                <a:spcPts val="300"/>
              </a:spcAft>
              <a:buFont typeface="+mj-lt"/>
              <a:buChar char="•"/>
            </a:pPr>
            <a:r>
              <a:rPr lang="en-IN" sz="1200">
                <a:solidFill>
                  <a:srgbClr val="1F2937"/>
                </a:solidFill>
              </a:rPr>
              <a:t>Port, coastal and disaster authorities (Navy, Coast Guard): rapid post-cyclone / post-tsunami hazard maps</a:t>
            </a:r>
          </a:p>
          <a:p>
            <a:pPr marL="228600" indent="-228600">
              <a:spcBef>
                <a:spcPts val="0"/>
              </a:spcBef>
              <a:spcAft>
                <a:spcPts val="300"/>
              </a:spcAft>
              <a:buFont typeface="+mj-lt"/>
              <a:buChar char="•"/>
            </a:pPr>
            <a:r>
              <a:rPr lang="en-IN" sz="1200">
                <a:solidFill>
                  <a:srgbClr val="1F2937"/>
                </a:solidFill>
              </a:rPr>
              <a:t>Fisheries departments, NGOs and dive / ROV teams: exact GPS positions for ghost-net recovery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EE1C92F-4456-A30D-0296-9143B14AB8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5906404"/>
              </p:ext>
            </p:extLst>
          </p:nvPr>
        </p:nvGraphicFramePr>
        <p:xfrm>
          <a:off x="508000" y="2946400"/>
          <a:ext cx="11176000" cy="25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3000">
                  <a:extLst>
                    <a:ext uri="{9D8B030D-6E8A-4147-A177-3AD203B41FA5}">
                      <a16:colId xmlns:a16="http://schemas.microsoft.com/office/drawing/2014/main" val="2800710774"/>
                    </a:ext>
                  </a:extLst>
                </a:gridCol>
                <a:gridCol w="8763000">
                  <a:extLst>
                    <a:ext uri="{9D8B030D-6E8A-4147-A177-3AD203B41FA5}">
                      <a16:colId xmlns:a16="http://schemas.microsoft.com/office/drawing/2014/main" val="1411671382"/>
                    </a:ext>
                  </a:extLst>
                </a:gridCol>
              </a:tblGrid>
              <a:tr h="127000">
                <a:tc>
                  <a:txBody>
                    <a:bodyPr/>
                    <a:lstStyle/>
                    <a:p>
                      <a:r>
                        <a:rPr lang="en-IN" sz="1050" b="1"/>
                        <a:t>Benefit</a:t>
                      </a:r>
                    </a:p>
                  </a:txBody>
                  <a:tcPr marT="38100" marB="38100"/>
                </a:tc>
                <a:tc>
                  <a:txBody>
                    <a:bodyPr/>
                    <a:lstStyle/>
                    <a:p>
                      <a:r>
                        <a:rPr lang="en-IN" sz="1050" b="1"/>
                        <a:t>Details</a:t>
                      </a:r>
                    </a:p>
                  </a:txBody>
                  <a:tcPr marT="38100" marB="38100"/>
                </a:tc>
                <a:extLst>
                  <a:ext uri="{0D108BD9-81ED-4DB2-BD59-A6C34878D82A}">
                    <a16:rowId xmlns:a16="http://schemas.microsoft.com/office/drawing/2014/main" val="2498739666"/>
                  </a:ext>
                </a:extLst>
              </a:tr>
              <a:tr h="127000">
                <a:tc>
                  <a:txBody>
                    <a:bodyPr/>
                    <a:lstStyle/>
                    <a:p>
                      <a:r>
                        <a:rPr lang="en-IN" sz="1050" b="1"/>
                        <a:t>Environmental</a:t>
                      </a:r>
                    </a:p>
                  </a:txBody>
                  <a:tcPr marT="38100" marB="38100"/>
                </a:tc>
                <a:tc>
                  <a:txBody>
                    <a:bodyPr/>
                    <a:lstStyle/>
                    <a:p>
                      <a:r>
                        <a:rPr lang="en-US" sz="1050"/>
                        <a:t>Faster ghost-net discovery → less entanglement of fish, turtles and dolphins and less reef damage; supports UN SDG 14 (Life Below Water)</a:t>
                      </a:r>
                      <a:endParaRPr lang="en-IN" sz="1050"/>
                    </a:p>
                  </a:txBody>
                  <a:tcPr marT="38100" marB="38100"/>
                </a:tc>
                <a:extLst>
                  <a:ext uri="{0D108BD9-81ED-4DB2-BD59-A6C34878D82A}">
                    <a16:rowId xmlns:a16="http://schemas.microsoft.com/office/drawing/2014/main" val="1437735975"/>
                  </a:ext>
                </a:extLst>
              </a:tr>
              <a:tr h="127000">
                <a:tc>
                  <a:txBody>
                    <a:bodyPr/>
                    <a:lstStyle/>
                    <a:p>
                      <a:r>
                        <a:rPr lang="en-IN" sz="1050" b="1"/>
                        <a:t>Disaster management</a:t>
                      </a:r>
                    </a:p>
                  </a:txBody>
                  <a:tcPr marT="38100" marB="38100"/>
                </a:tc>
                <a:tc>
                  <a:txBody>
                    <a:bodyPr/>
                    <a:lstStyle/>
                    <a:p>
                      <a:r>
                        <a:rPr lang="en-US" sz="1050"/>
                        <a:t>Rapid mapping of submerged debris in ports and shipping channels after cyclones, floods and tsunamis</a:t>
                      </a:r>
                      <a:endParaRPr lang="en-IN" sz="1050"/>
                    </a:p>
                  </a:txBody>
                  <a:tcPr marT="38100" marB="38100"/>
                </a:tc>
                <a:extLst>
                  <a:ext uri="{0D108BD9-81ED-4DB2-BD59-A6C34878D82A}">
                    <a16:rowId xmlns:a16="http://schemas.microsoft.com/office/drawing/2014/main" val="4257457955"/>
                  </a:ext>
                </a:extLst>
              </a:tr>
              <a:tr h="127000">
                <a:tc>
                  <a:txBody>
                    <a:bodyPr/>
                    <a:lstStyle/>
                    <a:p>
                      <a:r>
                        <a:rPr lang="en-IN" sz="1050" b="1"/>
                        <a:t>Economic</a:t>
                      </a:r>
                    </a:p>
                  </a:txBody>
                  <a:tcPr marT="38100" marB="38100"/>
                </a:tc>
                <a:tc>
                  <a:txBody>
                    <a:bodyPr/>
                    <a:lstStyle/>
                    <a:p>
                      <a:r>
                        <a:rPr lang="en-US" sz="1050"/>
                        <a:t>Fewer analyst hours per survey (target ≥ 70% time saving, to be measured); less propeller and fishing-gear damage; faster channel reopening</a:t>
                      </a:r>
                      <a:endParaRPr lang="en-IN" sz="1050"/>
                    </a:p>
                  </a:txBody>
                  <a:tcPr marT="38100" marB="38100"/>
                </a:tc>
                <a:extLst>
                  <a:ext uri="{0D108BD9-81ED-4DB2-BD59-A6C34878D82A}">
                    <a16:rowId xmlns:a16="http://schemas.microsoft.com/office/drawing/2014/main" val="2915903819"/>
                  </a:ext>
                </a:extLst>
              </a:tr>
              <a:tr h="127000">
                <a:tc>
                  <a:txBody>
                    <a:bodyPr/>
                    <a:lstStyle/>
                    <a:p>
                      <a:r>
                        <a:rPr lang="en-IN" sz="1050" b="1"/>
                        <a:t>Social &amp; operational</a:t>
                      </a:r>
                    </a:p>
                  </a:txBody>
                  <a:tcPr marT="38100" marB="38100"/>
                </a:tc>
                <a:tc>
                  <a:txBody>
                    <a:bodyPr/>
                    <a:lstStyle/>
                    <a:p>
                      <a:r>
                        <a:rPr lang="en-US" sz="1050"/>
                        <a:t>Same-day hazard reports with GPS for field teams; on-board alerts; offline and on-premise, so sensitive seabed data stays in-country</a:t>
                      </a:r>
                      <a:endParaRPr lang="en-IN" sz="1050"/>
                    </a:p>
                  </a:txBody>
                  <a:tcPr marT="38100" marB="38100"/>
                </a:tc>
                <a:extLst>
                  <a:ext uri="{0D108BD9-81ED-4DB2-BD59-A6C34878D82A}">
                    <a16:rowId xmlns:a16="http://schemas.microsoft.com/office/drawing/2014/main" val="946755425"/>
                  </a:ext>
                </a:extLst>
              </a:tr>
              <a:tr h="127000">
                <a:tc>
                  <a:txBody>
                    <a:bodyPr/>
                    <a:lstStyle/>
                    <a:p>
                      <a:r>
                        <a:rPr lang="en-IN" sz="1050" b="1"/>
                        <a:t>Strategic</a:t>
                      </a:r>
                    </a:p>
                  </a:txBody>
                  <a:tcPr marT="38100" marB="38100"/>
                </a:tc>
                <a:tc>
                  <a:txBody>
                    <a:bodyPr/>
                    <a:lstStyle/>
                    <a:p>
                      <a:r>
                        <a:rPr lang="en-US" sz="1050"/>
                        <a:t>Indigenous, open, edge-deployable capability aligned with MoES / NIOT ocean-technology programmes</a:t>
                      </a:r>
                      <a:endParaRPr lang="en-IN" sz="1050"/>
                    </a:p>
                  </a:txBody>
                  <a:tcPr marT="38100" marB="38100"/>
                </a:tc>
                <a:extLst>
                  <a:ext uri="{0D108BD9-81ED-4DB2-BD59-A6C34878D82A}">
                    <a16:rowId xmlns:a16="http://schemas.microsoft.com/office/drawing/2014/main" val="39093198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1905000" y="1016000"/>
            <a:ext cx="7620000" cy="558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tIns="0" bIns="0">
            <a:noAutofit/>
          </a:bodyPr>
          <a:lstStyle/>
          <a:p>
            <a:pPr marL="342900" marR="0" lvl="0" indent="-342900" algn="just" defTabSz="457200" rtl="0" eaLnBrk="1" fontAlgn="base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900" i="1" noProof="0" dirty="0">
                <a:solidFill>
                  <a:srgbClr val="6B7280"/>
                </a:solidFill>
                <a:latin typeface="Arial" pitchFamily="34" charset="0"/>
                <a:cs typeface="Arial" pitchFamily="34" charset="0"/>
              </a:rPr>
              <a:t>Details / Links of the reference and research work</a:t>
            </a:r>
            <a:endParaRPr kumimoji="0" lang="en-US" sz="900" b="0" i="1" u="none" strike="noStrike" kern="1200" cap="none" spc="0" normalizeH="0" baseline="0" noProof="0" dirty="0">
              <a:ln>
                <a:noFill/>
              </a:ln>
              <a:solidFill>
                <a:srgbClr val="6B7280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none" lIns="25400" rIns="25400" rtlCol="0" anchor="ctr"/>
          <a:lstStyle/>
          <a:p>
            <a:pPr algn="ctr"/>
            <a:r>
              <a:rPr lang="en-US" sz="1300"/>
              <a:t>Vashishta</a:t>
            </a:r>
            <a:endParaRPr lang="en-IN" sz="1300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6B62AA4-8ADC-A0DD-8A45-BD8165A19F85}"/>
              </a:ext>
            </a:extLst>
          </p:cNvPr>
          <p:cNvSpPr txBox="1"/>
          <p:nvPr/>
        </p:nvSpPr>
        <p:spPr>
          <a:xfrm>
            <a:off x="508000" y="1574799"/>
            <a:ext cx="11176000" cy="4673600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IN" sz="1100">
                <a:solidFill>
                  <a:srgbClr val="1F2937"/>
                </a:solidFill>
              </a:rPr>
              <a:t>[1] Z. Miao et al., "GhostNetZero: AI for detecting marine ghost nets," Microsoft AI for Good Lab, 2025.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IN" sz="1100">
                <a:solidFill>
                  <a:srgbClr val="1F2937"/>
                </a:solidFill>
              </a:rPr>
              <a:t>[2] A. V. Sethuraman et al., "Machine learning for shipwreck segmentation from side scan sonar imagery: Dataset and benchmark," Int. J. Robotics Research, 44(3), 2025. doi:10.1177/02783649241266853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IN" sz="1100">
                <a:solidFill>
                  <a:srgbClr val="1F2937"/>
                </a:solidFill>
              </a:rPr>
              <a:t>[3] N. Pessanha Santos et al., "Side-scan sonar imaging data of underwater vehicles for mine detection," Data in Brief, 53, 2024. doi:10.1016/j.dib.2024.110132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IN" sz="1100">
                <a:solidFill>
                  <a:srgbClr val="1F2937"/>
                </a:solidFill>
              </a:rPr>
              <a:t>[4] G. Huo, Z. Wu, J. Li, "Underwater object classification in sidescan sonar images using deep transfer learning and semisynthetic training data," IEEE Access, 8, 2020.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IN" sz="1100">
                <a:solidFill>
                  <a:srgbClr val="1F2937"/>
                </a:solidFill>
              </a:rPr>
              <a:t>[5] K. Roth et al., "Towards total recall in industrial anomaly detection" (PatchCore), CVPR 2022.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IN" sz="1100">
                <a:solidFill>
                  <a:srgbClr val="1F2937"/>
                </a:solidFill>
              </a:rPr>
              <a:t>[6] F. C. Akyon, S. O. Altinuc, A. Temizel, "Slicing aided hyper inference and fine-tuning for small object detection," ICIP 2022.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IN" sz="1100">
                <a:solidFill>
                  <a:srgbClr val="1F2937"/>
                </a:solidFill>
              </a:rPr>
              <a:t>[7] C. Guo et al., "On calibration of modern neural networks," ICML 2017.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IN" sz="1100">
                <a:solidFill>
                  <a:srgbClr val="1F2937"/>
                </a:solidFill>
              </a:rPr>
              <a:t>[8] K. Richardson, B. D. Hardesty, C. Wilcox, "Estimates of fishing gear loss rates at a global scale," Fish and Fisheries, 20(6), 2019. doi:10.1111/faf.12407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IN" sz="1100">
                <a:solidFill>
                  <a:srgbClr val="1F2937"/>
                </a:solidFill>
              </a:rPr>
              <a:t>[9] P. Blondel, The Handbook of Sidescan Sonar, Springer/Praxis, 2009.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IN" sz="1100">
                <a:solidFill>
                  <a:srgbClr val="1F2937"/>
                </a:solidFill>
              </a:rPr>
              <a:t>[10] Data &amp; tools: NOAA NCEI hydrographic survey data; Ultralytics YOLO11; pyxtf (github.com/oysstu/pyxtf); anomalib.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1373</Words>
  <Application>Microsoft Office PowerPoint</Application>
  <PresentationFormat>Widescreen</PresentationFormat>
  <Paragraphs>139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4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IDEA TITLE: SonarSentinel</vt:lpstr>
      <vt:lpstr>TECHNICAL APPROACH</vt:lpstr>
      <vt:lpstr>FEASIBILITY AND VIABILITY</vt:lpstr>
      <vt:lpstr>IMPACT AND BENEFITS</vt:lpstr>
      <vt:lpstr>RESEARCH  AND REFERENCES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srini nomula</cp:lastModifiedBy>
  <cp:revision>149</cp:revision>
  <dcterms:created xsi:type="dcterms:W3CDTF">2013-12-12T18:46:50Z</dcterms:created>
  <dcterms:modified xsi:type="dcterms:W3CDTF">2026-09-13T11:49:25Z</dcterms:modified>
  <cp:category/>
</cp:coreProperties>
</file>